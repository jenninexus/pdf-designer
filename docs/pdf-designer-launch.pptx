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5305b7d22b444a" /><Relationship Type="http://schemas.openxmlformats.org/officeDocument/2006/relationships/extended-properties" Target="/docProps/app.xml" Id="Rcc1911ca2a694f6f" /><Relationship Type="http://schemas.openxmlformats.org/officeDocument/2006/relationships/officeDocument" Target="/ppt/presentation.xml" Id="Rd43ffbd2a087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047d63a57f4391"/>
  </p:sldMasterIdLst>
  <p:notesMasterIdLst>
    <p:notesMasterId xmlns:r="http://schemas.openxmlformats.org/officeDocument/2006/relationships" r:id="Rb81d873971114742"/>
  </p:notesMasterIdLst>
  <p:sldIdLst>
    <p:sldId xmlns:r="http://schemas.openxmlformats.org/officeDocument/2006/relationships" id="256" r:id="Rf671bcbfb1d24ec8"/>
    <p:sldId xmlns:r="http://schemas.openxmlformats.org/officeDocument/2006/relationships" id="257" r:id="R4ec2fa1e67034371"/>
    <p:sldId xmlns:r="http://schemas.openxmlformats.org/officeDocument/2006/relationships" id="258" r:id="R1858d193fe724872"/>
    <p:sldId xmlns:r="http://schemas.openxmlformats.org/officeDocument/2006/relationships" id="259" r:id="R2016b7d3721f4717"/>
    <p:sldId xmlns:r="http://schemas.openxmlformats.org/officeDocument/2006/relationships" id="260" r:id="Rc8e4a645b6ba4d15"/>
    <p:sldId xmlns:r="http://schemas.openxmlformats.org/officeDocument/2006/relationships" id="261" r:id="R470a561c4a0640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eaf2e05bc74dbb" /><Relationship Type="http://schemas.openxmlformats.org/officeDocument/2006/relationships/slideMaster" Target="/ppt/slideMasters/slideMaster1.xml" Id="Rc8047d63a57f4391" /><Relationship Type="http://schemas.openxmlformats.org/officeDocument/2006/relationships/notesMaster" Target="/ppt/notesMasters/notesMaster1.xml" Id="Rb81d873971114742" /><Relationship Type="http://schemas.openxmlformats.org/officeDocument/2006/relationships/presProps" Target="/ppt/presProps.xml" Id="R12a7ed2956d94152" /><Relationship Type="http://schemas.openxmlformats.org/officeDocument/2006/relationships/tableStyles" Target="/ppt/tableStyles.xml" Id="R834286f13b0a42a2" /><Relationship Type="http://schemas.openxmlformats.org/officeDocument/2006/relationships/slide" Target="/ppt/slides/slide1.xml" Id="Rf671bcbfb1d24ec8" /><Relationship Type="http://schemas.openxmlformats.org/officeDocument/2006/relationships/slide" Target="/ppt/slides/slide2.xml" Id="R4ec2fa1e67034371" /><Relationship Type="http://schemas.openxmlformats.org/officeDocument/2006/relationships/slide" Target="/ppt/slides/slide3.xml" Id="R1858d193fe724872" /><Relationship Type="http://schemas.openxmlformats.org/officeDocument/2006/relationships/slide" Target="/ppt/slides/slide4.xml" Id="R2016b7d3721f4717" /><Relationship Type="http://schemas.openxmlformats.org/officeDocument/2006/relationships/slide" Target="/ppt/slides/slide5.xml" Id="Rc8e4a645b6ba4d15" /><Relationship Type="http://schemas.openxmlformats.org/officeDocument/2006/relationships/slide" Target="/ppt/slides/slide6.xml" Id="R470a561c4a0640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1d09823f0543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07e9eb5cd143e6" /><Relationship Type="http://schemas.openxmlformats.org/officeDocument/2006/relationships/notesMaster" Target="/ppt/notesMasters/notesMaster1.xml" Id="R5112a641e32f44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59beafa6fa4c55" /><Relationship Type="http://schemas.openxmlformats.org/officeDocument/2006/relationships/notesMaster" Target="/ppt/notesMasters/notesMaster1.xml" Id="Rf2d75ba64f104e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44ced948cb4c94" /><Relationship Type="http://schemas.openxmlformats.org/officeDocument/2006/relationships/notesMaster" Target="/ppt/notesMasters/notesMaster1.xml" Id="R7637a884aa37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71aac76fe24c67" /><Relationship Type="http://schemas.openxmlformats.org/officeDocument/2006/relationships/notesMaster" Target="/ppt/notesMasters/notesMaster1.xml" Id="Rec3319584b82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c583760384024" /><Relationship Type="http://schemas.openxmlformats.org/officeDocument/2006/relationships/notesMaster" Target="/ppt/notesMasters/notesMaster1.xml" Id="Rd5cd102b7e504a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662f241f0a4d3c" /><Relationship Type="http://schemas.openxmlformats.org/officeDocument/2006/relationships/notesMaster" Target="/ppt/notesMasters/notesMaster1.xml" Id="Rb7e29e5794fe4a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claims and terminology: docs/PRODUCT.md; public sample: examples/profiles/default-resume/default-resume.html.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framing: docs/PRODUCT.md (Why this exists; pain/answer table).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Dual-mode and ATS claims: AGENTS.md (Dual mode; Board upload); docs/JOB-ASSESSMENT.md; docs/PRODUCT.md.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Workflow: README.md; docs/GETTING-STARTED.md; AGENTS.md (QA gate and Design Hub).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Workspace and privacy model: docs/GETTING-STARTED.md; docs/WORKSPACE-LAYOUT.md; docs/PUBLIC-LOCAL-SPLIT.md.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Current release state and human gates: product-design/docs/PDF-DESIGNER.md; Plans/_Active/2026-08-13-launch-ready-workspace.md; docs/PRODUCT.md.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6dc037dbd49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69adbee9f9443f" /><Relationship Type="http://schemas.openxmlformats.org/officeDocument/2006/relationships/slideLayout" Target="/ppt/slideLayouts/slideLayout1.xml" Id="R06d3178c3ed2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d3178c3ed2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9ee9649fc446d" /><Relationship Type="http://schemas.openxmlformats.org/officeDocument/2006/relationships/image" Target="/ppt/media/image.png" Id="R0c927dab84f0493c" /><Relationship Type="http://schemas.openxmlformats.org/officeDocument/2006/relationships/notesSlide" Target="/ppt/notesSlides/notesSlide1.xml" Id="Raabd557a9c3b4b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9359338054eb1" /><Relationship Type="http://schemas.openxmlformats.org/officeDocument/2006/relationships/notesSlide" Target="/ppt/notesSlides/notesSlide2.xml" Id="R27dcbe2cee1a4b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d5a9e1fc24266" /><Relationship Type="http://schemas.openxmlformats.org/officeDocument/2006/relationships/notesSlide" Target="/ppt/notesSlides/notesSlide3.xml" Id="R7b0e285384df4b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c5bc597f84e79" /><Relationship Type="http://schemas.openxmlformats.org/officeDocument/2006/relationships/notesSlide" Target="/ppt/notesSlides/notesSlide4.xml" Id="R07c92b1e82014b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21994bbf64be2" /><Relationship Type="http://schemas.openxmlformats.org/officeDocument/2006/relationships/notesSlide" Target="/ppt/notesSlides/notesSlide5.xml" Id="R16854bea8ad049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f283c9eae4695" /><Relationship Type="http://schemas.openxmlformats.org/officeDocument/2006/relationships/notesSlide" Target="/ppt/notesSlides/notesSlide6.xml" Id="R60744633a22d43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21237-6BE9-4D66-BA05-2EE271C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1A2D"/>
              </a:gs>
              <a:gs pos="100000">
                <a:srgbClr val="27224B"/>
              </a:gs>
            </a:gsLst>
            <a:lin ang="15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795DD-F7EF-4B7A-8B00-471E06CA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3981450" cy="417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22E1-BF68-42AB-9CAD-94839F9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333375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4C8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AF8D2-D355-4C4E-8741-AFB60362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F4C8"/>
                </a:solidFill>
              </a:defRPr>
            </a:pPr>
            <a:r>
              <a:rPr sz="1200" b="1">
                <a:solidFill>
                  <a:srgbClr val="42F4C8"/>
                </a:solidFill>
              </a:rPr>
              <a:t>PDF DESIGNER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DB26E-9F45-4F76-9E02-4A6BE01A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619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Your résumé should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print exactly as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you designed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936B5-3776-4D23-9E3A-3EB6ED31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AE7"/>
                </a:solidFill>
              </a:defRPr>
            </a:pPr>
            <a:r>
              <a:rPr sz="1875" b="0">
                <a:solidFill>
                  <a:srgbClr val="D7DAE7"/>
                </a:solidFill>
              </a:rPr>
              <a:t>A local-first PDF studio for source-backed, ATS-honest applications — with a branded version for human eyes.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FAB76-B293-42DB-9B1C-03CEB988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657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C223A-FB50-4D7E-B5BE-6E4D06A5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BED0"/>
                </a:solidFill>
              </a:defRPr>
            </a:pPr>
            <a:r>
              <a:rPr sz="1350" b="1">
                <a:solidFill>
                  <a:srgbClr val="B9BED0"/>
                </a:solidFill>
              </a:rPr>
              <a:t>HTML → PDF  ·  light + dark  ·  private vaults  ·  rendered 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86A0E-F568-44EF-9231-5741295A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009650"/>
            <a:ext cx="3105150" cy="45529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27dab84f0493c"/>
          <a:stretch xmlns:a="http://schemas.openxmlformats.org/drawingml/2006/main"/>
        </p:blipFill>
        <p:spPr>
          <a:xfrm xmlns:a="http://schemas.openxmlformats.org/drawingml/2006/main">
            <a:off x="8058150" y="1719543"/>
            <a:ext cx="2743200" cy="3133165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</p:spTree>
    <p:extLst>
      <p:ext uri="{BB962C8B-B14F-4D97-AF65-F5344CB8AC3E}">
        <p14:creationId xmlns:p14="http://schemas.microsoft.com/office/powerpoint/2010/main" val="1188317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110E1-8FC2-4649-A3B6-BA62AC3F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</a:defRPr>
            </a:pPr>
            <a:r>
              <a:rPr sz="1050" b="1">
                <a:solidFill>
                  <a:srgbClr val="8B5CF6"/>
                </a:solidFill>
              </a:rPr>
              <a:t>THE JOB-MARKET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295CB-B0DB-44DD-9B70-02C351B3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PDF DESIGNER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088EB-0A1B-407E-903C-C234D01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00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Job applications need a system that respects both truth and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A611D-CD78-4927-8BDA-5AB8E93D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</a:defRPr>
            </a:pPr>
            <a:r>
              <a:rPr sz="1725" b="0">
                <a:solidFill>
                  <a:srgbClr val="64748B"/>
                </a:solidFill>
              </a:rPr>
              <a:t>Most tools force a trade-off: generic templates, fragile ATS output, or a cloud service that owns your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8420C-A2B9-46FD-8E70-E4779AA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2385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F40F5-F834-4650-A4D8-70588337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5357C-C4DF-45C4-B3AA-B1CFD205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Generic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79108-DD6D-4BFC-B1FE-320417B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647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 résumé looks like every other template — even when the work behind it is specific.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2ED8A-1452-47AD-A27F-D906D930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24200"/>
            <a:ext cx="32385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41CFB-06E5-433B-9635-7ED26FA4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3FB0A-9A99-44C6-A5BA-E63935AB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Unreliable 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04E81-A14C-4A57-B07C-DDC3AD22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2647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 document can look polished on screen and still overflow, clip, or shred in an ATS text layer.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DC873-4382-4F32-9A9B-879C50EE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24200"/>
            <a:ext cx="32385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E4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B8B0B-B9A2-4CFC-9BC1-219D447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5CFC5-D564-47CD-A99A-BD9DBBD8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Data surrender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7BA23-2600-4A6F-BA28-494C77DE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2647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Career facts and job history drift into a hosted form instead of remaining a local source of truth.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F4BF1-254B-4ADF-B7E8-0DAD4B90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C80"/>
                </a:solidFill>
              </a:defRPr>
            </a:pPr>
            <a:r>
              <a:rPr sz="1575" b="1">
                <a:solidFill>
                  <a:srgbClr val="167C80"/>
                </a:solidFill>
              </a:rPr>
              <a:t>PDF Designer keeps the application workflow local, source-backed, and verifiable.</a:t>
            </a:r>
          </a:p>
        </p:txBody>
      </p:sp>
    </p:spTree>
    <p:extLst>
      <p:ext uri="{BB962C8B-B14F-4D97-AF65-F5344CB8AC3E}">
        <p14:creationId xmlns:p14="http://schemas.microsoft.com/office/powerpoint/2010/main" val="6596673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93EE4-AEAE-4AF8-85C9-67DCD3B5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</a:defRPr>
            </a:pPr>
            <a:r>
              <a:rPr sz="1050" b="1">
                <a:solidFill>
                  <a:srgbClr val="8B5CF6"/>
                </a:solidFill>
              </a:rPr>
              <a:t>ONE ENGINE, TWO AUDIENCES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18AF9-5F5F-4E85-88E8-D96937EB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PDF DESIGNER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6AF20-BCA8-48C0-A74E-82798BBA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Design once. Export the right PDF for the moment.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CBEFD-3105-4EA7-A77A-7CB5F686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The same HTML keeps pagination stable while each export serves a different reader.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320CD-64CA-4526-8AAE-172D5637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686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0EAAB-3140-4266-B91D-5FECE980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4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92FB5-BD24-4A2C-8FC7-C1F765D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7C80"/>
                </a:solidFill>
              </a:defRPr>
            </a:pPr>
            <a:r>
              <a:rPr sz="2325" b="1">
                <a:solidFill>
                  <a:srgbClr val="167C80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FD615-8D2B-4488-9B11-7CD60D5E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14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Light PDF for 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6B545-D2B0-4CB1-BFD1-D6DB20F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System-font print styling plus a text-layer check keeps applications parseable for Jobright, Indeed, and LinkedIn.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27524-82B6-4A2B-859D-174B2CF7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4686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5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1E718-91AD-450F-BA71-17375779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8B5CF6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D01BC-0998-4F66-BFA8-DFC9A56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2F4C8"/>
                </a:solidFill>
              </a:defRPr>
            </a:pPr>
            <a:r>
              <a:rPr sz="2325" b="1">
                <a:solidFill>
                  <a:srgbClr val="42F4C8"/>
                </a:solidFill>
              </a:rPr>
              <a:t>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C6A94-3F5D-4C45-A19B-8D9650CD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Dark PDF for humans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C3F92-36F6-4C73-93B3-BF27D36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5C9D8"/>
                </a:solidFill>
              </a:defRPr>
            </a:pPr>
            <a:r>
              <a:rPr sz="1425" b="0">
                <a:solidFill>
                  <a:srgbClr val="C5C9D8"/>
                </a:solidFill>
              </a:rPr>
              <a:t>The branded version carries the same content and pagination — tailored for a person reviewing your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CB0B9-72BB-4C2F-9E4C-B0E105E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5CF6"/>
                </a:solidFill>
              </a:defRPr>
            </a:pPr>
            <a:r>
              <a:rPr sz="1050" b="1">
                <a:solidFill>
                  <a:srgbClr val="8B5CF6"/>
                </a:solidFill>
              </a:rPr>
              <a:t>ONE HTML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1AAA1-BF94-4D0C-B411-E892EE3E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62350"/>
            <a:ext cx="1028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BBF06-0E96-4442-9356-65793BF1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576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38A93-608B-48F5-818B-B0FD5F48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5A076-B808-48D6-A975-C4F2062A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BA398-3FBE-49B2-925D-0D4DEF47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C80"/>
                </a:solidFill>
              </a:defRPr>
            </a:pPr>
            <a:r>
              <a:rPr sz="1650" b="1">
                <a:solidFill>
                  <a:srgbClr val="167C80"/>
                </a:solidFill>
              </a:rPr>
              <a:t>Same source. Same page geometry. Different context.</a:t>
            </a:r>
          </a:p>
        </p:txBody>
      </p:sp>
    </p:spTree>
    <p:extLst>
      <p:ext uri="{BB962C8B-B14F-4D97-AF65-F5344CB8AC3E}">
        <p14:creationId xmlns:p14="http://schemas.microsoft.com/office/powerpoint/2010/main" val="912274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AFF35-9A3E-4DBC-B260-05E1BDAC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</a:defRPr>
            </a:pPr>
            <a:r>
              <a:rPr sz="1050" b="1">
                <a:solidFill>
                  <a:srgbClr val="8B5CF6"/>
                </a:solidFill>
              </a:rPr>
              <a:t>THE STUDIO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FCE5E-EE5B-4B0B-8699-6056567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PDF DESIGNER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C8842-173F-47C1-BA63-EC3A1C58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A small workflow that makes good output repeatable.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746C3-A0BF-4EF5-9F3D-2BD6E589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26695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2B9A4-FEDF-4C89-B758-1771121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6"/>
                </a:solidFill>
              </a:defRPr>
            </a:pPr>
            <a:r>
              <a:rPr sz="1200" b="1">
                <a:solidFill>
                  <a:srgbClr val="8B5CF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11653-E6D0-43B3-91CD-A4A50952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9CF16-687C-4170-8AC4-A4044159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Open a public example or your own local workspace.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B70CF-9BC2-4DA9-BB02-727D7733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F37E6-13B9-4605-BC11-F6242833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226695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40F32-B5C7-4AE9-B302-3D2C28BF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57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6"/>
                </a:solidFill>
              </a:defRPr>
            </a:pPr>
            <a:r>
              <a:rPr sz="1200" b="1">
                <a:solidFill>
                  <a:srgbClr val="8B5CF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44A55-A395-4DC9-A713-D7A4F36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61BFB-696E-4659-9FD8-9F01F79C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67150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Write in HTML, select a palette, and keep claims source-backed.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3CE75-4F13-4079-8592-78F9842A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84A78-FA31-4721-B8DF-34FFEDE6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226695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149B0-CC0F-4EDE-A5BD-9F5B5F1B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6"/>
                </a:solidFill>
              </a:defRPr>
            </a:pPr>
            <a:r>
              <a:rPr sz="1200" b="1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A1F17-3534-4406-BC6F-000397D5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14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AFC53-4A5C-41A6-9090-B96803AA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Create synchronized light and dark PDFs.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6E966-668E-4B72-BDFF-70888FA8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FB253-C733-41C6-B1F7-D0A4A4DC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26695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15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9E1C7-2391-4DEC-BC60-D13D6805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F4C8"/>
                </a:solidFill>
              </a:defRPr>
            </a:pPr>
            <a:r>
              <a:rPr sz="1200" b="1">
                <a:solidFill>
                  <a:srgbClr val="42F4C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98404-5D45-402B-B9D8-8B39B5CB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5D202-DC2F-49F3-B037-271F7B23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67150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C9D8"/>
                </a:solidFill>
              </a:defRPr>
            </a:pPr>
            <a:r>
              <a:rPr sz="1350" b="0">
                <a:solidFill>
                  <a:srgbClr val="C5C9D8"/>
                </a:solidFill>
              </a:rPr>
              <a:t>Run the rendered QA gate; use the light file for boards.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5D60F-7F47-452E-A160-AEE8E79F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C80"/>
                </a:solidFill>
              </a:defRPr>
            </a:pPr>
            <a:r>
              <a:rPr sz="1650" b="1">
                <a:solidFill>
                  <a:srgbClr val="167C80"/>
                </a:solidFill>
              </a:rPr>
              <a:t>The Design Hub makes the loop visible locally: browse, swap palettes, export, and refresh without restarting.</a:t>
            </a:r>
          </a:p>
        </p:txBody>
      </p:sp>
    </p:spTree>
    <p:extLst>
      <p:ext uri="{BB962C8B-B14F-4D97-AF65-F5344CB8AC3E}">
        <p14:creationId xmlns:p14="http://schemas.microsoft.com/office/powerpoint/2010/main" val="1992164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C305A-DEC9-4038-B481-3CD6762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</a:defRPr>
            </a:pPr>
            <a:r>
              <a:rPr sz="1050" b="1">
                <a:solidFill>
                  <a:srgbClr val="8B5CF6"/>
                </a:solidFill>
              </a:rPr>
              <a:t>PRIVACY IS A PRODUCT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7D9C0-FAE3-4DFF-8FE7-1B9D41EB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PDF DESIGNER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AAA7-F986-42FF-B5A1-1C181F6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One checkout. Your data stays yours.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941D1-2BD8-4A2C-9BDC-DE03602D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5C9D8"/>
                </a:solidFill>
              </a:defRPr>
            </a:pPr>
            <a:r>
              <a:rPr sz="1650" b="0">
                <a:solidFill>
                  <a:srgbClr val="C5C9D8"/>
                </a:solidFill>
              </a:rPr>
              <a:t>Privacy is not a second app or an environment file. It is a clear local workspace with real files kept out of Git.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04DDA-39FA-4FC6-B41F-D6816EC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305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6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6C4F0-0AA3-45E6-B945-8BD0B3F8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F4C8"/>
                </a:solidFill>
              </a:defRPr>
            </a:pPr>
            <a:r>
              <a:rPr sz="1650" b="1">
                <a:solidFill>
                  <a:srgbClr val="42F4C8"/>
                </a:solidFill>
              </a:rPr>
              <a:t>users/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3376A-93A3-4334-BB41-BB672887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76550"/>
            <a:ext cx="2305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6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6C711-2399-471C-9148-9E3D4F7B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F4C8"/>
                </a:solidFill>
              </a:defRPr>
            </a:pPr>
            <a:r>
              <a:rPr sz="1650" b="1">
                <a:solidFill>
                  <a:srgbClr val="42F4C8"/>
                </a:solidFill>
              </a:rPr>
              <a:t>vaults/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2E80B-B353-4693-A1C4-7F23A66E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2305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6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184B0-EAEA-493C-86DD-720887AB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F4C8"/>
                </a:solidFill>
              </a:defRPr>
            </a:pPr>
            <a:r>
              <a:rPr sz="1650" b="1">
                <a:solidFill>
                  <a:srgbClr val="42F4C8"/>
                </a:solidFill>
              </a:rPr>
              <a:t>profiles/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CFBCE-29F3-4ECC-A95B-E61ABCA5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305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6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1CED4-D85E-4393-AEAC-B6A0412B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F4C8"/>
                </a:solidFill>
              </a:defRPr>
            </a:pPr>
            <a:r>
              <a:rPr sz="1650" b="1">
                <a:solidFill>
                  <a:srgbClr val="42F4C8"/>
                </a:solidFill>
              </a:rPr>
              <a:t>resumes/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02BFF-F555-4DEC-B880-9D38A1E5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05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2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AE361-994D-4FD6-9624-DD2FFCC9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_job-apps/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DD5D4-B0D9-4DAF-A4AB-CA389521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48100"/>
            <a:ext cx="2305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2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D10B8-ABD6-4824-89AE-2849AAD1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38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collages/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38277-AFA8-4B5A-B1BD-903B1DAB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2305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2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5BF25-82E8-4AB3-8CF0-9DE009A8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brands/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C5B00-7879-47B3-A9EC-A53B0EB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50F72-F6DF-4522-879C-8C66490F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C1C4F-6AF2-4DB5-AAB3-3D25DDF7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19D27-1977-4485-B99D-2CA2D502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DAE7"/>
                </a:solidFill>
              </a:defRPr>
            </a:pPr>
            <a:r>
              <a:rPr sz="1350" b="1">
                <a:solidFill>
                  <a:srgbClr val="D7DAE7"/>
                </a:solidFill>
              </a:rPr>
              <a:t>Tracked examples teach the shape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9A5BE-57F7-434A-A903-253B668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5F1C8-59CE-47E8-9792-71FDD02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959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22EC6-D372-4CDD-9F57-BF3FA398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054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DAE7"/>
                </a:solidFill>
              </a:defRPr>
            </a:pPr>
            <a:r>
              <a:rPr sz="1350" b="1">
                <a:solidFill>
                  <a:srgbClr val="D7DAE7"/>
                </a:solidFill>
              </a:rPr>
              <a:t>Real local data is gitignored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AC9B0-8C03-4D7C-83BA-4C795A0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EF3D7-EFC5-4B8C-B465-3503CC87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83451-665A-47E3-BCBB-008A131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054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DAE7"/>
                </a:solidFill>
              </a:defRPr>
            </a:pPr>
            <a:r>
              <a:rPr sz="1350" b="1">
                <a:solidFill>
                  <a:srgbClr val="D7DAE7"/>
                </a:solidFill>
              </a:rPr>
              <a:t>No .env or cloud vault required</a:t>
            </a:r>
          </a:p>
        </p:txBody>
      </p:sp>
    </p:spTree>
    <p:extLst>
      <p:ext uri="{BB962C8B-B14F-4D97-AF65-F5344CB8AC3E}">
        <p14:creationId xmlns:p14="http://schemas.microsoft.com/office/powerpoint/2010/main" val="1347866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FA729-F08A-409D-97A9-096A376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</a:defRPr>
            </a:pPr>
            <a:r>
              <a:rPr sz="1050" b="1">
                <a:solidFill>
                  <a:srgbClr val="8B5CF6"/>
                </a:solidFill>
              </a:rPr>
              <a:t>RELEASE-READY, NOT PUBLISHED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15DE1-8297-41AA-A44A-54784C4E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PDF DESIGNER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0E330-49A3-4E35-B694-C85EC708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The public path is prepared. The remaining gates are deliberate.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D9DFF-41A5-4BC3-A501-10AD30DB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PDF Designer is being prepared as a free GitHub toolkit. A future paid shell adds guidance — never a second renderer or a cloud vault.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1450F-1892-4293-B286-B3E84558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9149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6583F-269B-4574-B9F3-D692E89B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C80"/>
                </a:solidFill>
              </a:defRPr>
            </a:pPr>
            <a:r>
              <a:rPr sz="1800" b="1">
                <a:solidFill>
                  <a:srgbClr val="167C80"/>
                </a:solidFill>
              </a:rPr>
              <a:t>Ready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DCF12-D891-4343-B8DB-47248E4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D5C7A-EC2F-4521-9823-9B105FF9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338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79FDD-E09D-4AD2-927E-F7B19C5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Public example + smoke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04221-762F-4666-ADB6-47CC500A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25CDC-F332-4AFD-93B7-C79B412A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6490D-C4EC-48E5-AEE1-F72480DE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README + product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5B7F8-A05D-4701-AAB7-DCF90A3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5F3B2-A0C4-4075-94C9-6F9ACDAB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815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74F9A-FA3A-4014-9114-9A82BA39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Design Hub, themes, layouts, 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0846B-2880-4A6A-9F1D-AE0E5BDE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5410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5F75E-A3A8-4E8F-9705-40D36A5F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</a:defRPr>
            </a:pPr>
            <a:r>
              <a:rPr sz="1800" b="1">
                <a:solidFill>
                  <a:srgbClr val="8B5CF6"/>
                </a:solidFill>
              </a:rPr>
              <a:t>Human launch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F33D7-E95B-4CEE-A6B7-617A6249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57E8B-1E0B-4AEE-9D77-319DB9C3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338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2CEF1-06BE-4175-BE3E-8453B003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History scrub and public push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530BC-00FB-4AD7-A18C-BAFAD682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0CC2E-C1AF-4E2A-9529-5542422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6A2EC-4297-461B-8702-14283035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Patreon / blog publication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12681-D980-4EA0-8C61-CE8AAAA3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F7EB7-3AAB-4BF4-B367-06B51CCF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900BC-C18B-47EB-8468-549752AB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Gumroad only when the installer exists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12BACF-1F16-4055-909E-05274AB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2A76B-82AA-4728-9CCA-C4AE21B2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Build your résumé. Keep your story. Verify the PDF.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66985-534C-4D7A-9598-4CE2A603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Local Design Hub: http://127.0.0.1:8787/</a:t>
            </a:r>
          </a:p>
        </p:txBody>
      </p:sp>
    </p:spTree>
    <p:extLst>
      <p:ext uri="{BB962C8B-B14F-4D97-AF65-F5344CB8AC3E}">
        <p14:creationId xmlns:p14="http://schemas.microsoft.com/office/powerpoint/2010/main" val="340458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2026-08-13T23:37:15.0960000Z</dcterms:created>
  <dcterms:modified xsi:type="dcterms:W3CDTF">2026-08-13T23:37:15.0960000Z</dcterms:modified>
</coreProperties>
</file>